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embeddedFontLst>
    <p:embeddedFont>
      <p:font typeface="Inter" panose="020B0604020202020204" charset="0"/>
      <p:regular r:id="rId18"/>
      <p:bold r:id="rId19"/>
      <p:italic r:id="rId20"/>
      <p:boldItalic r:id="rId21"/>
    </p:embeddedFont>
    <p:embeddedFont>
      <p:font typeface="Inter SemiBold" panose="020B0604020202020204" charset="0"/>
      <p:regular r:id="rId22"/>
      <p:bold r:id="rId23"/>
      <p:italic r:id="rId24"/>
      <p:boldItalic r:id="rId25"/>
    </p:embeddedFont>
    <p:embeddedFont>
      <p:font typeface="Roboto" panose="02000000000000000000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lide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lide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slide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slide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slide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slide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slide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slide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slide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slide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slide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slide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slide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slide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slide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slide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slide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slide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slide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slide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slide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slide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slide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slide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slide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slide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slide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slide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slide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slide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5.png"/><Relationship Id="rId5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0.png"/><Relationship Id="rId5" Type="http://schemas.openxmlformats.org/officeDocument/2006/relationships/image" Target="../media/image12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9.png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1.png"/><Relationship Id="rId4" Type="http://schemas.openxmlformats.org/officeDocument/2006/relationships/image" Target="../media/image26.png"/><Relationship Id="rId9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2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3.png"/><Relationship Id="rId5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4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9.png"/><Relationship Id="rId5" Type="http://schemas.openxmlformats.org/officeDocument/2006/relationships/image" Target="../media/image12.png"/><Relationship Id="rId4" Type="http://schemas.openxmlformats.org/officeDocument/2006/relationships/image" Target="../media/image19.png"/><Relationship Id="rId9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10" Type="http://schemas.openxmlformats.org/officeDocument/2006/relationships/image" Target="../media/image40.png"/><Relationship Id="rId4" Type="http://schemas.openxmlformats.org/officeDocument/2006/relationships/image" Target="../media/image19.png"/><Relationship Id="rId9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11" Type="http://schemas.openxmlformats.org/officeDocument/2006/relationships/image" Target="../media/image42.png"/><Relationship Id="rId5" Type="http://schemas.openxmlformats.org/officeDocument/2006/relationships/image" Target="../media/image10.png"/><Relationship Id="rId10" Type="http://schemas.openxmlformats.org/officeDocument/2006/relationships/image" Target="../media/image6.png"/><Relationship Id="rId4" Type="http://schemas.openxmlformats.org/officeDocument/2006/relationships/image" Target="../media/image19.png"/><Relationship Id="rId9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3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6.png"/><Relationship Id="rId5" Type="http://schemas.openxmlformats.org/officeDocument/2006/relationships/image" Target="../media/image12.png"/><Relationship Id="rId10" Type="http://schemas.openxmlformats.org/officeDocument/2006/relationships/image" Target="../media/image40.png"/><Relationship Id="rId4" Type="http://schemas.openxmlformats.org/officeDocument/2006/relationships/image" Target="../media/image19.png"/><Relationship Id="rId9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5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10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linkedin.com/in/suraj117/" TargetMode="External"/><Relationship Id="rId5" Type="http://schemas.openxmlformats.org/officeDocument/2006/relationships/hyperlink" Target="https://github.com/SURAJDECODE/edulearn-lms" TargetMode="External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descr="PTML::eyJ0eXBlIjoicmVjdCIsImZpbGwiOiIiLCJjb3JuZXJSYWRpdXMiOjAsImxvY2tlZCI6ZmFsc2UsInN0cm9rZVdpZHRoIjowLCJzdHJva2VTdHlsZSI6IiIsInNoYWRvdyI6eyJvcGFjaXR5IjowLCJibHVyIjowLCJvZmZzZXRYIjowLCJvZmZzZXRZIjowfX0=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1" y="0"/>
            <a:ext cx="9142138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798003" y="655632"/>
            <a:ext cx="78030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EduLearn - Learning Management System</a:t>
            </a:r>
            <a:endParaRPr sz="36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670560" y="1908810"/>
            <a:ext cx="7803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Full-Stack MERN Application</a:t>
            </a:r>
            <a:endParaRPr sz="210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670560" y="2480310"/>
            <a:ext cx="7803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Developed by Suraj Anand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670560" y="2766060"/>
            <a:ext cx="78030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December 2025</a:t>
            </a:r>
            <a:endParaRPr sz="135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670560" y="3337560"/>
            <a:ext cx="7803000" cy="4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For Ecera System LLC Internship Screening Assignment</a:t>
            </a:r>
            <a:endParaRPr sz="165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 descr="PTML::eyJ0eXBlIjoicmVjdCIsImZpbGwiOiJoc2woMjEwLCA4MCUsIDQ1JSkiLCJjb3JuZXJSYWRpdXMiOjAsImxvY2tlZCI6ZmFsc2UsInNoYWRvdyI6eyJvcGFjaXR5IjowLCJibHVyIjowLCJvZmZzZXRYIjowLCJvZmZzZXRZIjowfX0=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773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670560" y="99060"/>
            <a:ext cx="3993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EduLearn - Project Overview</a:t>
            </a:r>
            <a:endParaRPr sz="150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8290560" y="99060"/>
            <a:ext cx="754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Page 2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670560" y="861060"/>
            <a:ext cx="7803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1773CF"/>
                </a:solidFill>
                <a:latin typeface="Inter"/>
                <a:ea typeface="Inter"/>
                <a:cs typeface="Inter"/>
                <a:sym typeface="Inter"/>
              </a:rPr>
              <a:t>Project Overview: EduLearn LMS</a:t>
            </a:r>
            <a:endParaRPr sz="2400" b="1">
              <a:solidFill>
                <a:srgbClr val="1773C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670560" y="1432560"/>
            <a:ext cx="7803000" cy="5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Introduction to EduLearn</a:t>
            </a:r>
            <a:endParaRPr sz="1350">
              <a:solidFill>
                <a:srgbClr val="1A1A1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670560" y="1718310"/>
            <a:ext cx="78030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EduLearn is a comprehensive e-learning platform designed to provide accessible and efficient online education. It supports two distinct user roles: Administrator and Student.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670560" y="2385060"/>
            <a:ext cx="7803000" cy="5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Purpose &amp; Vision</a:t>
            </a:r>
            <a:endParaRPr sz="1350">
              <a:solidFill>
                <a:srgbClr val="1A1A1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670560" y="2670810"/>
            <a:ext cx="78030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Our goal is to bridge the gap in online learning by offering a robust platform that simplifies course management for educators and enhances the learning experience for students, ensuring secure and seamless access to educational content.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670560" y="3337560"/>
            <a:ext cx="7803000" cy="5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Built with MERN Stack</a:t>
            </a:r>
            <a:endParaRPr sz="1350">
              <a:solidFill>
                <a:srgbClr val="1A1A1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670560" y="3623310"/>
            <a:ext cx="78030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The platform is developed using the powerful MERN (MongoDB, Express.js, React.js, Node.js) stack, ensuring a scalable, high-performance, and responsive application.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4" descr="PTML::eyJ0eXBlIjoicmVjdCIsImZpbGwiOiJoc2woMjEwLCA4MCUsIDQ1JSkiLCJjb3JuZXJSYWRpdXMiOjAsImxvY2tlZCI6ZmFsc2UsInNoYWRvdyI6eyJvcGFjaXR5IjowLCJibHVyIjowLCJvZmZzZXRYIjowLCJvZmZzZXRZIjowfX0="/>
          <p:cNvSpPr/>
          <p:nvPr/>
        </p:nvSpPr>
        <p:spPr>
          <a:xfrm>
            <a:off x="0" y="4667250"/>
            <a:ext cx="9144000" cy="476400"/>
          </a:xfrm>
          <a:prstGeom prst="rect">
            <a:avLst/>
          </a:prstGeom>
          <a:solidFill>
            <a:srgbClr val="1773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4"/>
          <p:cNvSpPr txBox="1"/>
          <p:nvPr/>
        </p:nvSpPr>
        <p:spPr>
          <a:xfrm>
            <a:off x="4480560" y="4718685"/>
            <a:ext cx="3993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Ecera System LLC | Internship Assignment</a:t>
            </a:r>
            <a:endParaRPr sz="105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670560" y="4718685"/>
            <a:ext cx="3993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EduLearn Project Documentation</a:t>
            </a:r>
            <a:endParaRPr sz="105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 descr="PTML::eyJ0eXBlIjoicmVjdCIsImZpbGwiOiJoc2woMjEwLCA4MCUsIDQ1JSkiLCJjb3JuZXJSYWRpdXMiOjAsImxvY2tlZCI6ZmFsc2UsInNoYWRvdyI6eyJvcGFjaXR5IjowLCJibHVyIjowLCJvZmZzZXRYIjowLCJvZmZzZXRZIjowfX0=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773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5"/>
          <p:cNvSpPr txBox="1"/>
          <p:nvPr/>
        </p:nvSpPr>
        <p:spPr>
          <a:xfrm>
            <a:off x="670560" y="99060"/>
            <a:ext cx="3993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EduLearn - Problem Statement</a:t>
            </a:r>
            <a:endParaRPr sz="150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8290560" y="99060"/>
            <a:ext cx="754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Page 3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670560" y="861060"/>
            <a:ext cx="7803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1773CF"/>
                </a:solidFill>
                <a:latin typeface="Inter"/>
                <a:ea typeface="Inter"/>
                <a:cs typeface="Inter"/>
                <a:sym typeface="Inter"/>
              </a:rPr>
              <a:t>Addressing Key Challenges in Online Education</a:t>
            </a:r>
            <a:endParaRPr sz="2400" b="1">
              <a:solidFill>
                <a:srgbClr val="1773C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6" name="Google Shape;8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1619250"/>
            <a:ext cx="304801" cy="3048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5"/>
          <p:cNvSpPr txBox="1"/>
          <p:nvPr/>
        </p:nvSpPr>
        <p:spPr>
          <a:xfrm>
            <a:off x="1099185" y="1527810"/>
            <a:ext cx="7374300" cy="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Need for Accessible Online Education</a:t>
            </a:r>
            <a:endParaRPr sz="1350">
              <a:solidFill>
                <a:srgbClr val="1A1A1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1099185" y="1813560"/>
            <a:ext cx="7374300" cy="5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Many platforms lack intuitive interfaces and robust features, making quality online learning less accessible to a wider audience.</a:t>
            </a:r>
            <a:endParaRPr sz="105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9" name="Google Shape;8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000" y="2381250"/>
            <a:ext cx="304801" cy="30480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5"/>
          <p:cNvSpPr txBox="1"/>
          <p:nvPr/>
        </p:nvSpPr>
        <p:spPr>
          <a:xfrm>
            <a:off x="1099185" y="2289810"/>
            <a:ext cx="7374300" cy="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Course Management Challenges for Admins</a:t>
            </a:r>
            <a:endParaRPr sz="1350">
              <a:solidFill>
                <a:srgbClr val="1A1A1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1099185" y="2575560"/>
            <a:ext cx="7374300" cy="5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Administrators often struggle with inefficient tools for creating, updating, and managing course content and user data.</a:t>
            </a:r>
            <a:endParaRPr sz="105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2" name="Google Shape;9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2000" y="3143250"/>
            <a:ext cx="304801" cy="3048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5"/>
          <p:cNvSpPr txBox="1"/>
          <p:nvPr/>
        </p:nvSpPr>
        <p:spPr>
          <a:xfrm>
            <a:off x="1099185" y="3051810"/>
            <a:ext cx="7374300" cy="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Difficulties in Student Learning Tracking</a:t>
            </a:r>
            <a:endParaRPr sz="1350">
              <a:solidFill>
                <a:srgbClr val="1A1A1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94" name="Google Shape;94;p15"/>
          <p:cNvSpPr txBox="1"/>
          <p:nvPr/>
        </p:nvSpPr>
        <p:spPr>
          <a:xfrm>
            <a:off x="1099185" y="3337560"/>
            <a:ext cx="7374300" cy="5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Students and instructors need better ways to monitor progress, identify areas for improvement, and ensure effective learning outcomes.</a:t>
            </a:r>
            <a:endParaRPr sz="105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5" name="Google Shape;95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2000" y="3905250"/>
            <a:ext cx="304801" cy="3048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5"/>
          <p:cNvSpPr txBox="1"/>
          <p:nvPr/>
        </p:nvSpPr>
        <p:spPr>
          <a:xfrm>
            <a:off x="1099185" y="3813810"/>
            <a:ext cx="7374300" cy="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Secure Payment Processing Requirements</a:t>
            </a:r>
            <a:endParaRPr sz="1350">
              <a:solidFill>
                <a:srgbClr val="1A1A1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97" name="Google Shape;97;p15"/>
          <p:cNvSpPr txBox="1"/>
          <p:nvPr/>
        </p:nvSpPr>
        <p:spPr>
          <a:xfrm>
            <a:off x="1099185" y="4099560"/>
            <a:ext cx="7374300" cy="5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A reliable and secure payment gateway is crucial for handling course enrollments and ensuring financial transactions are protected.</a:t>
            </a:r>
            <a:endParaRPr sz="105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 descr="PTML::eyJ0eXBlIjoicmVjdCIsImZpbGwiOiJoc2woMjEwLCA4MCUsIDQ1JSkiLCJjb3JuZXJSYWRpdXMiOjAsImxvY2tlZCI6ZmFsc2UsInNoYWRvdyI6eyJvcGFjaXR5IjowLCJibHVyIjowLCJvZmZzZXRYIjowLCJvZmZzZXRZIjowfX0=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773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6"/>
          <p:cNvSpPr txBox="1"/>
          <p:nvPr/>
        </p:nvSpPr>
        <p:spPr>
          <a:xfrm>
            <a:off x="670560" y="99060"/>
            <a:ext cx="3993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EduLearn - Tech Stack</a:t>
            </a:r>
            <a:endParaRPr sz="150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8290560" y="99060"/>
            <a:ext cx="754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Page 4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670560" y="861060"/>
            <a:ext cx="7803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1773CF"/>
                </a:solidFill>
                <a:latin typeface="Inter"/>
                <a:ea typeface="Inter"/>
                <a:cs typeface="Inter"/>
                <a:sym typeface="Inter"/>
              </a:rPr>
              <a:t>Technology Stack: Powering EduLearn</a:t>
            </a:r>
            <a:endParaRPr sz="2400" b="1">
              <a:solidFill>
                <a:srgbClr val="1773C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6" name="Google Shape;106;p16" descr="PTML::eyJ0eXBlIjoicmVjdCIsImZpbGwiOiIjRDRENEQ0IiwiY29ybmVyUmFkaXVzIjoxMiwibG9ja2VkIjpmYWxzZSwic3Ryb2tlV2lkdGgiOjAsInN0cm9rZVN0eWxlIjoiIiwic2hhZG93Ijp7ImNvbG9yIjoicmdiYSgwLCAwLCAwLCAwLjEpIiwib3BhY2l0eSI6MCwiYmx1ciI6MTAsIm9mZnNldFgiOjAsIm9mZnNldFkiOjV9fQ==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1524000"/>
            <a:ext cx="228600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4500" y="1714500"/>
            <a:ext cx="457201" cy="45720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6"/>
          <p:cNvSpPr txBox="1"/>
          <p:nvPr/>
        </p:nvSpPr>
        <p:spPr>
          <a:xfrm>
            <a:off x="765810" y="2194560"/>
            <a:ext cx="22785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Frontend</a:t>
            </a:r>
            <a:endParaRPr sz="1350">
              <a:solidFill>
                <a:srgbClr val="1A1A1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765810" y="2432685"/>
            <a:ext cx="22785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React.js, React Router, Axios, CSS3</a:t>
            </a:r>
            <a:endParaRPr sz="9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0" name="Google Shape;110;p16" descr="PTML::eyJ0eXBlIjoicmVjdCIsImZpbGwiOiIjRDRENEQ0IiwiY29ybmVyUmFkaXVzIjoxMiwibG9ja2VkIjpmYWxzZSwic3Ryb2tlV2lkdGgiOjAsInN0cm9rZVN0eWxlIjoiIiwic2hhZG93Ijp7ImNvbG9yIjoicmdiYSgwLCAwLCAwLCAwLjEpIiwib3BhY2l0eSI6MCwiYmx1ciI6MTAsIm9mZnNldFgiOjAsIm9mZnNldFkiOjV9fQ==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9000" y="1524000"/>
            <a:ext cx="228600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81500" y="1714500"/>
            <a:ext cx="457201" cy="4572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 txBox="1"/>
          <p:nvPr/>
        </p:nvSpPr>
        <p:spPr>
          <a:xfrm>
            <a:off x="3432810" y="2194560"/>
            <a:ext cx="22785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Backend</a:t>
            </a:r>
            <a:endParaRPr sz="1350">
              <a:solidFill>
                <a:srgbClr val="1A1A1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3432810" y="2432685"/>
            <a:ext cx="22785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Node.js, Express.js, Mongoose</a:t>
            </a:r>
            <a:endParaRPr sz="9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6" descr="PTML::eyJ0eXBlIjoicmVjdCIsImZpbGwiOiIjRDRENEQ0IiwiY29ybmVyUmFkaXVzIjoxMiwibG9ja2VkIjpmYWxzZSwic3Ryb2tlV2lkdGgiOjAsInN0cm9rZVN0eWxlIjoiIiwic2hhZG93Ijp7ImNvbG9yIjoicmdiYSgwLCAwLCAwLCAwLjEpIiwib3BhY2l0eSI6MCwiYmx1ciI6MTAsIm9mZnNldFgiOjAsIm9mZnNldFkiOjV9fQ==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0" y="1524000"/>
            <a:ext cx="228600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48500" y="1714500"/>
            <a:ext cx="457201" cy="45720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6099810" y="2194560"/>
            <a:ext cx="22785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Database</a:t>
            </a:r>
            <a:endParaRPr sz="1350">
              <a:solidFill>
                <a:srgbClr val="1A1A1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6099810" y="2432685"/>
            <a:ext cx="22785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MongoDB Atlas</a:t>
            </a:r>
            <a:endParaRPr sz="9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8" name="Google Shape;118;p16" descr="PTML::eyJ0eXBlIjoicmVjdCIsImZpbGwiOiIjRDRENEQ0IiwiY29ybmVyUmFkaXVzIjoxMiwibG9ja2VkIjpmYWxzZSwic3Ryb2tlV2lkdGgiOjAsInN0cm9rZVN0eWxlIjoiIiwic2hhZG93Ijp7ImNvbG9yIjoicmdiYSgwLCAwLCAwLCAwLjEpIiwib3BhY2l0eSI6MCwiYmx1ciI6MTAsIm9mZnNldFgiOjAsIm9mZnNldFkiOjV9fQ==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3143250"/>
            <a:ext cx="228600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14500" y="3333750"/>
            <a:ext cx="457201" cy="457201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765810" y="3813810"/>
            <a:ext cx="22785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Authentication</a:t>
            </a:r>
            <a:endParaRPr sz="1350">
              <a:solidFill>
                <a:srgbClr val="1A1A1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765810" y="4051935"/>
            <a:ext cx="22785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JWT, Bcrypt, Nodemailer</a:t>
            </a:r>
            <a:endParaRPr sz="9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2" name="Google Shape;122;p16" descr="PTML::eyJ0eXBlIjoicmVjdCIsImZpbGwiOiIjRDRENEQ0IiwiY29ybmVyUmFkaXVzIjoxMiwibG9ja2VkIjpmYWxzZSwic3Ryb2tlV2lkdGgiOjAsInN0cm9rZVN0eWxlIjoiIiwic2hhZG93Ijp7ImNvbG9yIjoicmdiYSgwLCAwLCAwLCAwLjEpIiwib3BhY2l0eSI6MCwiYmx1ciI6MTAsIm9mZnNldFgiOjAsIm9mZnNldFkiOjV9fQ==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9000" y="3143250"/>
            <a:ext cx="228600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381500" y="3333750"/>
            <a:ext cx="457201" cy="45720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3432810" y="3813810"/>
            <a:ext cx="22785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Additional Tools</a:t>
            </a:r>
            <a:endParaRPr sz="1350">
              <a:solidFill>
                <a:srgbClr val="1A1A1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3432810" y="4051935"/>
            <a:ext cx="22785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Multer, Razorpay</a:t>
            </a:r>
            <a:endParaRPr sz="9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16" descr="PTML::eyJ0eXBlIjoicmVjdCIsImZpbGwiOiJoc2woMjEwLCA4MCUsIDQ1JSkiLCJjb3JuZXJSYWRpdXMiOjAsImxvY2tlZCI6ZmFsc2UsInNoYWRvdyI6eyJvcGFjaXR5IjowLCJibHVyIjowLCJvZmZzZXRYIjowLCJvZmZzZXRZIjowfX0="/>
          <p:cNvSpPr/>
          <p:nvPr/>
        </p:nvSpPr>
        <p:spPr>
          <a:xfrm>
            <a:off x="0" y="4667250"/>
            <a:ext cx="9144000" cy="476400"/>
          </a:xfrm>
          <a:prstGeom prst="rect">
            <a:avLst/>
          </a:prstGeom>
          <a:solidFill>
            <a:srgbClr val="1773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4480560" y="4718685"/>
            <a:ext cx="3993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Ecera System LLC | Internship Assignment</a:t>
            </a:r>
            <a:endParaRPr sz="105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670560" y="4718685"/>
            <a:ext cx="3993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EduLearn Project Documentation</a:t>
            </a:r>
            <a:endParaRPr sz="105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" descr="PTML::eyJ0eXBlIjoicmVjdCIsImZpbGwiOiJoc2woMjEwLCA4MCUsIDQ1JSkiLCJjb3JuZXJSYWRpdXMiOjAsImxvY2tlZCI6ZmFsc2UsInNoYWRvdyI6eyJvcGFjaXR5IjowLCJibHVyIjowLCJvZmZzZXRYIjowLCJvZmZzZXRZIjowfX0=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773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670560" y="99060"/>
            <a:ext cx="3993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EduLearn - System Architecture</a:t>
            </a:r>
            <a:endParaRPr sz="150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8290560" y="99060"/>
            <a:ext cx="754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Page 5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670560" y="861060"/>
            <a:ext cx="7803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1773CF"/>
                </a:solidFill>
                <a:latin typeface="Inter"/>
                <a:ea typeface="Inter"/>
                <a:cs typeface="Inter"/>
                <a:sym typeface="Inter"/>
              </a:rPr>
              <a:t>System Architecture: Data Flow &amp; Components</a:t>
            </a:r>
            <a:endParaRPr sz="2400" b="1">
              <a:solidFill>
                <a:srgbClr val="1773C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7" name="Google Shape;137;p17" descr="PTML::eyJ0eXBlIjoicmVjdCIsImZpbGwiOiIjRDRENEQ0IiwiY29ybmVyUmFkaXVzIjo4LCJsb2NrZWQiOmZhbHNlLCJzdHJva2VXaWR0aCI6MCwic3Ryb2tlU3R5bGUiOiIiLCJzaGFkb3ciOnsiY29sb3IiOiJyZ2JhKDAsIDAsIDAsIDAuMSkiLCJvcGFjaXR5IjowLCJibHVyIjo1LCJvZmZzZXRYIjowLCJvZmZzZXRZIjozfX0=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1714500"/>
            <a:ext cx="1714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1146810" y="1861185"/>
            <a:ext cx="1707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Frontend (React)</a:t>
            </a:r>
            <a:endParaRPr sz="1200">
              <a:solidFill>
                <a:srgbClr val="1A1A1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39" name="Google Shape;139;p17" descr="PTML::eyJ0eXBlIjoibGluZSIsInBvaW50cyI6WzAsMCw4MCwwXSwiZmlsbCI6ImhzbCgyMTAsIDgwJSwgNDUlKSIsInN0cm9rZSI6ImhzbCgyMTAsIDgwJSwgNDUlKSIsInN0cm9rZVdpZHRoIjoyLCJzdHJva2VTdHlsZSI6IiIsIm9wYWNpdHkiOjEsImxvY2tlZCI6ZmFsc2UsImNvbnRlbnRXaWR0aCI6NjAsImNvbnRlbnRIZWlnaHQiOjEsInBhZGRpbmdQeCI6MTN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3675" y="1971675"/>
            <a:ext cx="1009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PTML::eyJ0eXBlIjoicmVjdCIsImZpbGwiOiIjRDRENEQ0IiwiY29ybmVyUmFkaXVzIjo4LCJsb2NrZWQiOmZhbHNlLCJzdHJva2VXaWR0aCI6MCwic3Ryb2tlU3R5bGUiOiIiLCJzaGFkb3ciOnsiY29sb3IiOiJyZ2JhKDAsIDAsIDAsIDAuMSkiLCJvcGFjaXR5IjowLCJibHVyIjo1LCJvZmZzZXRYIjowLCJvZmZzZXRZIjozfX0=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0" y="1714500"/>
            <a:ext cx="1714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3813810" y="1861185"/>
            <a:ext cx="1707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Backend (Node/Express)</a:t>
            </a:r>
            <a:endParaRPr sz="1200">
              <a:solidFill>
                <a:srgbClr val="1A1A1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42" name="Google Shape;142;p17" descr="PTML::eyJ0eXBlIjoibGluZSIsInBvaW50cyI6WzAsMCw4MCwwXSwiZmlsbCI6ImhzbCgyMTAsIDgwJSwgNDUlKSIsInN0cm9rZSI6ImhzbCgyMTAsIDgwJSwgNDUlKSIsInN0cm9rZVdpZHRoIjoyLCJzdHJva2VTdHlsZSI6IiIsIm9wYWNpdHkiOjEsImxvY2tlZCI6ZmFsc2UsImNvbnRlbnRXaWR0aCI6NjAsImNvbnRlbnRIZWlnaHQiOjEsInBhZGRpbmdQeCI6MTN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0675" y="1971675"/>
            <a:ext cx="1009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PTML::eyJ0eXBlIjoicmVjdCIsImZpbGwiOiIjRDRENEQ0IiwiY29ybmVyUmFkaXVzIjo4LCJsb2NrZWQiOmZhbHNlLCJzdHJva2VXaWR0aCI6MCwic3Ryb2tlU3R5bGUiOiIiLCJzaGFkb3ciOnsiY29sb3IiOiJyZ2JhKDAsIDAsIDAsIDAuMSkiLCJvcGFjaXR5IjowLCJibHVyIjo1LCJvZmZzZXRYIjowLCJvZmZzZXRZIjozfX0=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7000" y="1714500"/>
            <a:ext cx="1714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6480810" y="1861185"/>
            <a:ext cx="1707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MongoDB Atlas</a:t>
            </a:r>
            <a:endParaRPr sz="1200">
              <a:solidFill>
                <a:srgbClr val="1A1A1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45" name="Google Shape;145;p17"/>
          <p:cNvSpPr txBox="1"/>
          <p:nvPr/>
        </p:nvSpPr>
        <p:spPr>
          <a:xfrm>
            <a:off x="1051560" y="2766060"/>
            <a:ext cx="2088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Key Principles:</a:t>
            </a:r>
            <a:endParaRPr sz="1050">
              <a:solidFill>
                <a:srgbClr val="1A1A1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46" name="Google Shape;14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3000" y="314325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1384935" y="3051810"/>
            <a:ext cx="2564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RESTful APIs for seamless communication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43000" y="34290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1384935" y="3337560"/>
            <a:ext cx="2564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Token-based Authentication (JWT)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0" name="Google Shape;150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43000" y="371475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1384935" y="3623310"/>
            <a:ext cx="2564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Robust File Upload System (Multer)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2" name="Google Shape;152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286250" y="2762250"/>
            <a:ext cx="3809999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 descr="PTML::eyJ0eXBlIjoicmVjdCIsImZpbGwiOiJoc2woMjEwLCA4MCUsIDQ1JSkiLCJjb3JuZXJSYWRpdXMiOjAsImxvY2tlZCI6ZmFsc2UsInNoYWRvdyI6eyJvcGFjaXR5IjowLCJibHVyIjowLCJvZmZzZXRYIjowLCJvZmZzZXRZIjowfX0="/>
          <p:cNvSpPr/>
          <p:nvPr/>
        </p:nvSpPr>
        <p:spPr>
          <a:xfrm>
            <a:off x="0" y="4667250"/>
            <a:ext cx="9144000" cy="476400"/>
          </a:xfrm>
          <a:prstGeom prst="rect">
            <a:avLst/>
          </a:prstGeom>
          <a:solidFill>
            <a:srgbClr val="1773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4480560" y="4718685"/>
            <a:ext cx="3993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Ecera System LLC | Internship Assignment</a:t>
            </a:r>
            <a:endParaRPr sz="105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670560" y="4718685"/>
            <a:ext cx="3993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EduLearn Project Documentation</a:t>
            </a:r>
            <a:endParaRPr sz="105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8" descr="PTML::eyJ0eXBlIjoicmVjdCIsImZpbGwiOiJoc2woMjEwLCA4MCUsIDQ1JSkiLCJjb3JuZXJSYWRpdXMiOjAsImxvY2tlZCI6ZmFsc2UsInNoYWRvdyI6eyJvcGFjaXR5IjowLCJibHVyIjowLCJvZmZzZXRYIjowLCJvZmZzZXRZIjowfX0=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773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670560" y="99060"/>
            <a:ext cx="3993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EduLearn - Admin Panel Features</a:t>
            </a:r>
            <a:endParaRPr sz="150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8290560" y="99060"/>
            <a:ext cx="754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Page 6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p18"/>
          <p:cNvSpPr txBox="1"/>
          <p:nvPr/>
        </p:nvSpPr>
        <p:spPr>
          <a:xfrm>
            <a:off x="670560" y="861060"/>
            <a:ext cx="7803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1773CF"/>
                </a:solidFill>
                <a:latin typeface="Inter"/>
                <a:ea typeface="Inter"/>
                <a:cs typeface="Inter"/>
                <a:sym typeface="Inter"/>
              </a:rPr>
              <a:t>Key Features: Admin Panel</a:t>
            </a:r>
            <a:endParaRPr sz="2400" b="1">
              <a:solidFill>
                <a:srgbClr val="1773C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4" name="Google Shape;16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500" y="1524000"/>
            <a:ext cx="3809999" cy="2666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 descr="PTML::eyJ0eXBlIjoicmVjdCIsImZpbGwiOiIjRDRENEQ0IiwiY29ybmVyUmFkaXVzIjoxMiwibG9ja2VkIjpmYWxzZSwic3Ryb2tlV2lkdGgiOjAsInN0cm9rZVN0eWxlIjoiIiwic2hhZG93Ijp7ImNvbG9yIjoicmdiYSgwLCAwLCAwLCAwLjEpIiwib3BhY2l0eSI6MCwiYmx1ciI6MTAsIm9mZnNldFgiOjAsIm9mZnNldFkiOjV9fQ==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000" y="1524000"/>
            <a:ext cx="38100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861060" y="1623060"/>
            <a:ext cx="3612000" cy="4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Comprehensive Admin Controls</a:t>
            </a:r>
            <a:endParaRPr sz="1650">
              <a:solidFill>
                <a:srgbClr val="1A1A1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67" name="Google Shape;167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2500" y="214312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1194435" y="2051685"/>
            <a:ext cx="327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Complete Course CRUD Operations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" name="Google Shape;169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52500" y="24288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1194435" y="2337435"/>
            <a:ext cx="327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Video Lecture Upload &amp; Management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1" name="Google Shape;171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52500" y="271462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/>
        </p:nvSpPr>
        <p:spPr>
          <a:xfrm>
            <a:off x="1194435" y="2623185"/>
            <a:ext cx="327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User Management &amp; Role Assignment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3" name="Google Shape;17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2500" y="30003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/>
        </p:nvSpPr>
        <p:spPr>
          <a:xfrm>
            <a:off x="1194435" y="2908935"/>
            <a:ext cx="327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Dashboard Statistics (Courses, Users, Lectures)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5" name="Google Shape;175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52500" y="328612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1194435" y="3194685"/>
            <a:ext cx="327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Secure File Upload System (Multer)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p18" descr="PTML::eyJ0eXBlIjoicmVjdCIsImZpbGwiOiJoc2woMjEwLCA4MCUsIDQ1JSkiLCJjb3JuZXJSYWRpdXMiOjAsImxvY2tlZCI6ZmFsc2UsInNoYWRvdyI6eyJvcGFjaXR5IjowLCJibHVyIjowLCJvZmZzZXRYIjowLCJvZmZzZXRZIjowfX0="/>
          <p:cNvSpPr/>
          <p:nvPr/>
        </p:nvSpPr>
        <p:spPr>
          <a:xfrm>
            <a:off x="0" y="4667250"/>
            <a:ext cx="9144000" cy="476400"/>
          </a:xfrm>
          <a:prstGeom prst="rect">
            <a:avLst/>
          </a:prstGeom>
          <a:solidFill>
            <a:srgbClr val="1773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4480560" y="4718685"/>
            <a:ext cx="3993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Ecera System LLC | Internship Assignment</a:t>
            </a:r>
            <a:endParaRPr sz="105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670560" y="4718685"/>
            <a:ext cx="3993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EduLearn Project Documentation</a:t>
            </a:r>
            <a:endParaRPr sz="105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" descr="PTML::eyJ0eXBlIjoicmVjdCIsImZpbGwiOiJoc2woMjEwLCA4MCUsIDQ1JSkiLCJjb3JuZXJSYWRpdXMiOjAsImxvY2tlZCI6ZmFsc2UsInNoYWRvdyI6eyJvcGFjaXR5IjowLCJibHVyIjowLCJvZmZzZXRYIjowLCJvZmZzZXRZIjowfX0=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773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670560" y="99060"/>
            <a:ext cx="3993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EduLearn - Student Portal Features</a:t>
            </a:r>
            <a:endParaRPr sz="150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86" name="Google Shape;186;p19"/>
          <p:cNvSpPr txBox="1"/>
          <p:nvPr/>
        </p:nvSpPr>
        <p:spPr>
          <a:xfrm>
            <a:off x="8290560" y="99060"/>
            <a:ext cx="754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Page 7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19"/>
          <p:cNvSpPr txBox="1"/>
          <p:nvPr/>
        </p:nvSpPr>
        <p:spPr>
          <a:xfrm>
            <a:off x="670560" y="861060"/>
            <a:ext cx="7803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1773CF"/>
                </a:solidFill>
                <a:latin typeface="Inter"/>
                <a:ea typeface="Inter"/>
                <a:cs typeface="Inter"/>
                <a:sym typeface="Inter"/>
              </a:rPr>
              <a:t>Key Features: Student Portal</a:t>
            </a:r>
            <a:endParaRPr sz="2400" b="1">
              <a:solidFill>
                <a:srgbClr val="1773C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88" name="Google Shape;18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500" y="1524000"/>
            <a:ext cx="3809999" cy="2666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 descr="PTML::eyJ0eXBlIjoicmVjdCIsImZpbGwiOiIjRDRENEQ0IiwiY29ybmVyUmFkaXVzIjoxMiwibG9ja2VkIjpmYWxzZSwic3Ryb2tlV2lkdGgiOjAsInN0cm9rZVN0eWxlIjoiIiwic2hhZG93Ijp7ImNvbG9yIjoicmdiYSgwLCAwLCAwLCAwLjEpIiwib3BhY2l0eSI6MCwiYmx1ciI6MTAsIm9mZnNldFgiOjAsIm9mZnNldFkiOjV9fQ==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000" y="1524000"/>
            <a:ext cx="38100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9"/>
          <p:cNvSpPr txBox="1"/>
          <p:nvPr/>
        </p:nvSpPr>
        <p:spPr>
          <a:xfrm>
            <a:off x="861060" y="1623060"/>
            <a:ext cx="3612000" cy="4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Enhanced Learning Experience</a:t>
            </a:r>
            <a:endParaRPr sz="1650">
              <a:solidFill>
                <a:srgbClr val="1A1A1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91" name="Google Shape;19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2500" y="214312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 txBox="1"/>
          <p:nvPr/>
        </p:nvSpPr>
        <p:spPr>
          <a:xfrm>
            <a:off x="1194435" y="2051685"/>
            <a:ext cx="327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Course Browsing &amp; Search Functionality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3" name="Google Shape;193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52500" y="24288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/>
          <p:cNvSpPr txBox="1"/>
          <p:nvPr/>
        </p:nvSpPr>
        <p:spPr>
          <a:xfrm>
            <a:off x="1194435" y="2337435"/>
            <a:ext cx="327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Detailed Course Information Display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5" name="Google Shape;195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52500" y="271462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/>
        </p:nvSpPr>
        <p:spPr>
          <a:xfrm>
            <a:off x="1194435" y="2623185"/>
            <a:ext cx="327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Secure Enrollment &amp; Payment (Razorpay)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7" name="Google Shape;197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52500" y="30003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9"/>
          <p:cNvSpPr txBox="1"/>
          <p:nvPr/>
        </p:nvSpPr>
        <p:spPr>
          <a:xfrm>
            <a:off x="1194435" y="2908935"/>
            <a:ext cx="327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Lecture Content Access with Video Player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9" name="Google Shape;199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52500" y="328612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 txBox="1"/>
          <p:nvPr/>
        </p:nvSpPr>
        <p:spPr>
          <a:xfrm>
            <a:off x="1194435" y="3194685"/>
            <a:ext cx="327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Progress Tracking Dashboard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1" name="Google Shape;201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52500" y="35718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1194435" y="3480435"/>
            <a:ext cx="327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Personalized Learning Dashboard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" name="Google Shape;203;p19" descr="PTML::eyJ0eXBlIjoicmVjdCIsImZpbGwiOiJoc2woMjEwLCA4MCUsIDQ1JSkiLCJjb3JuZXJSYWRpdXMiOjAsImxvY2tlZCI6ZmFsc2UsInNoYWRvdyI6eyJvcGFjaXR5IjowLCJibHVyIjowLCJvZmZzZXRYIjowLCJvZmZzZXRZIjowfX0="/>
          <p:cNvSpPr/>
          <p:nvPr/>
        </p:nvSpPr>
        <p:spPr>
          <a:xfrm>
            <a:off x="0" y="4667250"/>
            <a:ext cx="9144000" cy="476400"/>
          </a:xfrm>
          <a:prstGeom prst="rect">
            <a:avLst/>
          </a:prstGeom>
          <a:solidFill>
            <a:srgbClr val="1773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4480560" y="4718685"/>
            <a:ext cx="3993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Ecera System LLC | Internship Assignment</a:t>
            </a:r>
            <a:endParaRPr sz="105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p19"/>
          <p:cNvSpPr txBox="1"/>
          <p:nvPr/>
        </p:nvSpPr>
        <p:spPr>
          <a:xfrm>
            <a:off x="670560" y="4718685"/>
            <a:ext cx="3993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EduLearn Project Documentation</a:t>
            </a:r>
            <a:endParaRPr sz="105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0" descr="PTML::eyJ0eXBlIjoicmVjdCIsImZpbGwiOiJoc2woMjEwLCA4MCUsIDQ1JSkiLCJjb3JuZXJSYWRpdXMiOjAsImxvY2tlZCI6ZmFsc2UsInNoYWRvdyI6eyJvcGFjaXR5IjowLCJibHVyIjowLCJvZmZzZXRYIjowLCJvZmZzZXRZIjowfX0=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773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670560" y="99060"/>
            <a:ext cx="3993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EduLearn - Authentication &amp; Security</a:t>
            </a:r>
            <a:endParaRPr sz="150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8290560" y="99060"/>
            <a:ext cx="754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Page 8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670560" y="861060"/>
            <a:ext cx="7803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1773CF"/>
                </a:solidFill>
                <a:latin typeface="Inter"/>
                <a:ea typeface="Inter"/>
                <a:cs typeface="Inter"/>
                <a:sym typeface="Inter"/>
              </a:rPr>
              <a:t>Robust Authentication &amp; Security</a:t>
            </a:r>
            <a:endParaRPr sz="2400" b="1">
              <a:solidFill>
                <a:srgbClr val="1773C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14" name="Google Shape;214;p20" descr="PTML::eyJ0eXBlIjoicmVjdCIsImZpbGwiOiIjRDRENEQ0IiwiY29ybmVyUmFkaXVzIjoxMiwibG9ja2VkIjpmYWxzZSwic3Ryb2tlV2lkdGgiOjAsInN0cm9rZVN0eWxlIjoiIiwic2hhZG93Ijp7ImNvbG9yIjoicmdiYSgwLCAwLCAwLCAwLjEpIiwib3BhY2l0eSI6MCwiYmx1ciI6MTAsIm9mZnNldFgiOjAsIm9mZnNldFkiOjV9fQ==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1524000"/>
            <a:ext cx="38100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0"/>
          <p:cNvSpPr txBox="1"/>
          <p:nvPr/>
        </p:nvSpPr>
        <p:spPr>
          <a:xfrm>
            <a:off x="861060" y="1623060"/>
            <a:ext cx="3612000" cy="4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Security Measures Implemented</a:t>
            </a:r>
            <a:endParaRPr sz="1650">
              <a:solidFill>
                <a:srgbClr val="1A1A1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216" name="Google Shape;21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500" y="214312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0"/>
          <p:cNvSpPr txBox="1"/>
          <p:nvPr/>
        </p:nvSpPr>
        <p:spPr>
          <a:xfrm>
            <a:off x="1194435" y="2051685"/>
            <a:ext cx="327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JWT-based Authentication System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8" name="Google Shape;21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2500" y="24288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0"/>
          <p:cNvSpPr txBox="1"/>
          <p:nvPr/>
        </p:nvSpPr>
        <p:spPr>
          <a:xfrm>
            <a:off x="1194435" y="2337435"/>
            <a:ext cx="327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Email OTP Verification via Nodemailer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0" name="Google Shape;220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52500" y="271462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0"/>
          <p:cNvSpPr txBox="1"/>
          <p:nvPr/>
        </p:nvSpPr>
        <p:spPr>
          <a:xfrm>
            <a:off x="1194435" y="2623185"/>
            <a:ext cx="327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Bcrypt Password Encryption with Salting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2" name="Google Shape;222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52500" y="30003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0"/>
          <p:cNvSpPr txBox="1"/>
          <p:nvPr/>
        </p:nvSpPr>
        <p:spPr>
          <a:xfrm>
            <a:off x="1194435" y="2908935"/>
            <a:ext cx="327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Role-Based Access Control (RBAC)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4" name="Google Shape;224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52500" y="328612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 txBox="1"/>
          <p:nvPr/>
        </p:nvSpPr>
        <p:spPr>
          <a:xfrm>
            <a:off x="1194435" y="3194685"/>
            <a:ext cx="327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Secure Token Management with Expiration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6" name="Google Shape;226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52500" y="35718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0"/>
          <p:cNvSpPr txBox="1"/>
          <p:nvPr/>
        </p:nvSpPr>
        <p:spPr>
          <a:xfrm>
            <a:off x="1194435" y="3480435"/>
            <a:ext cx="327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Protected API Routes using Middleware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8" name="Google Shape;228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762500" y="1524000"/>
            <a:ext cx="3809999" cy="2666999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0" descr="PTML::eyJ0eXBlIjoicmVjdCIsImZpbGwiOiJoc2woMjEwLCA4MCUsIDQ1JSkiLCJjb3JuZXJSYWRpdXMiOjAsImxvY2tlZCI6ZmFsc2UsInNoYWRvdyI6eyJvcGFjaXR5IjowLCJibHVyIjowLCJvZmZzZXRYIjowLCJvZmZzZXRZIjowfX0="/>
          <p:cNvSpPr/>
          <p:nvPr/>
        </p:nvSpPr>
        <p:spPr>
          <a:xfrm>
            <a:off x="0" y="4667250"/>
            <a:ext cx="9144000" cy="476400"/>
          </a:xfrm>
          <a:prstGeom prst="rect">
            <a:avLst/>
          </a:prstGeom>
          <a:solidFill>
            <a:srgbClr val="1773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4480560" y="4718685"/>
            <a:ext cx="3993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Ecera System LLC | Internship Assignment</a:t>
            </a:r>
            <a:endParaRPr sz="105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>
            <a:off x="670560" y="4718685"/>
            <a:ext cx="3993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EduLearn Project Documentation</a:t>
            </a:r>
            <a:endParaRPr sz="105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1" descr="PTML::eyJ0eXBlIjoicmVjdCIsImZpbGwiOiJoc2woMjEwLCA4MCUsIDQ1JSkiLCJjb3JuZXJSYWRpdXMiOjAsImxvY2tlZCI6ZmFsc2UsInNoYWRvdyI6eyJvcGFjaXR5IjowLCJibHVyIjowLCJvZmZzZXRYIjowLCJvZmZzZXRZIjowfX0=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773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670560" y="99060"/>
            <a:ext cx="3993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EduLearn - Database Design</a:t>
            </a:r>
            <a:endParaRPr sz="150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8290560" y="99060"/>
            <a:ext cx="754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Page 9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670560" y="861060"/>
            <a:ext cx="7803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1773CF"/>
                </a:solidFill>
                <a:latin typeface="Inter"/>
                <a:ea typeface="Inter"/>
                <a:cs typeface="Inter"/>
                <a:sym typeface="Inter"/>
              </a:rPr>
              <a:t>Database Design: Core Collections</a:t>
            </a:r>
            <a:endParaRPr sz="2400" b="1">
              <a:solidFill>
                <a:srgbClr val="1773C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40" name="Google Shape;24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500" y="1524000"/>
            <a:ext cx="3809999" cy="2666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1" descr="PTML::eyJ0eXBlIjoicmVjdCIsImZpbGwiOiIjRDRENEQ0IiwiY29ybmVyUmFkaXVzIjoxMiwibG9ja2VkIjpmYWxzZSwic3Ryb2tlV2lkdGgiOjAsInN0cm9rZVN0eWxlIjoiIiwic2hhZG93Ijp7ImNvbG9yIjoicmdiYSgwLCAwLCAwLCAwLjEpIiwib3BhY2l0eSI6MCwiYmx1ciI6MTAsIm9mZnNldFgiOjAsIm9mZnNldFkiOjV9fQ==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000" y="1524000"/>
            <a:ext cx="38100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1"/>
          <p:cNvSpPr txBox="1"/>
          <p:nvPr/>
        </p:nvSpPr>
        <p:spPr>
          <a:xfrm>
            <a:off x="861060" y="1623060"/>
            <a:ext cx="3612000" cy="4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5 Main Collections</a:t>
            </a:r>
            <a:endParaRPr sz="1650">
              <a:solidFill>
                <a:srgbClr val="1A1A1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243" name="Google Shape;24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2500" y="214312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1"/>
          <p:cNvSpPr txBox="1"/>
          <p:nvPr/>
        </p:nvSpPr>
        <p:spPr>
          <a:xfrm>
            <a:off x="1194435" y="2051685"/>
            <a:ext cx="327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Users: name, email, password, role, profile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5" name="Google Shape;245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52500" y="24288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1"/>
          <p:cNvSpPr txBox="1"/>
          <p:nvPr/>
        </p:nvSpPr>
        <p:spPr>
          <a:xfrm>
            <a:off x="1194435" y="2337435"/>
            <a:ext cx="327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Courses: title, description, price, instructor, thumbnail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7" name="Google Shape;247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52500" y="271462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1"/>
          <p:cNvSpPr txBox="1"/>
          <p:nvPr/>
        </p:nvSpPr>
        <p:spPr>
          <a:xfrm>
            <a:off x="1194435" y="2623185"/>
            <a:ext cx="327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Lectures: courseId, title, videoURL, duration, order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9" name="Google Shape;249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52500" y="30003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1"/>
          <p:cNvSpPr txBox="1"/>
          <p:nvPr/>
        </p:nvSpPr>
        <p:spPr>
          <a:xfrm>
            <a:off x="1194435" y="2908935"/>
            <a:ext cx="327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Payments: userId, courseId, transactionId, amount, status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1" name="Google Shape;251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52500" y="328612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1"/>
          <p:cNvSpPr txBox="1"/>
          <p:nvPr/>
        </p:nvSpPr>
        <p:spPr>
          <a:xfrm>
            <a:off x="1194435" y="3194685"/>
            <a:ext cx="327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Progress: userId, courseId, lectureId, completionPercentage, timestamp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" name="Google Shape;253;p21" descr="PTML::eyJ0eXBlIjoicmVjdCIsImZpbGwiOiJoc2woMjEwLCA4MCUsIDQ1JSkiLCJjb3JuZXJSYWRpdXMiOjAsImxvY2tlZCI6ZmFsc2UsInNoYWRvdyI6eyJvcGFjaXR5IjowLCJibHVyIjowLCJvZmZzZXRYIjowLCJvZmZzZXRZIjowfX0="/>
          <p:cNvSpPr/>
          <p:nvPr/>
        </p:nvSpPr>
        <p:spPr>
          <a:xfrm>
            <a:off x="0" y="4667250"/>
            <a:ext cx="9144000" cy="476400"/>
          </a:xfrm>
          <a:prstGeom prst="rect">
            <a:avLst/>
          </a:prstGeom>
          <a:solidFill>
            <a:srgbClr val="1773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4480560" y="4718685"/>
            <a:ext cx="3993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Ecera System LLC | Internship Assignment</a:t>
            </a:r>
            <a:endParaRPr sz="105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670560" y="4718685"/>
            <a:ext cx="3993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EduLearn Project Documentation</a:t>
            </a:r>
            <a:endParaRPr sz="105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2" descr="PTML::eyJ0eXBlIjoicmVjdCIsImZpbGwiOiJoc2woMjEwLCA4MCUsIDQ1JSkiLCJjb3JuZXJSYWRpdXMiOjAsImxvY2tlZCI6ZmFsc2UsInNoYWRvdyI6eyJvcGFjaXR5IjowLCJibHVyIjowLCJvZmZzZXRYIjowLCJvZmZzZXRZIjowfX0=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773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670560" y="99060"/>
            <a:ext cx="3993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EduLearn - Payment Integration</a:t>
            </a:r>
            <a:endParaRPr sz="150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262" name="Google Shape;262;p22"/>
          <p:cNvSpPr txBox="1"/>
          <p:nvPr/>
        </p:nvSpPr>
        <p:spPr>
          <a:xfrm>
            <a:off x="8290560" y="99060"/>
            <a:ext cx="754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Page 10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" name="Google Shape;263;p22"/>
          <p:cNvSpPr txBox="1"/>
          <p:nvPr/>
        </p:nvSpPr>
        <p:spPr>
          <a:xfrm>
            <a:off x="670560" y="861060"/>
            <a:ext cx="7803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1773CF"/>
                </a:solidFill>
                <a:latin typeface="Inter"/>
                <a:ea typeface="Inter"/>
                <a:cs typeface="Inter"/>
                <a:sym typeface="Inter"/>
              </a:rPr>
              <a:t>Seamless Razorpay Payment Integration</a:t>
            </a:r>
            <a:endParaRPr sz="2400" b="1">
              <a:solidFill>
                <a:srgbClr val="1773C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64" name="Google Shape;26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500" y="1524000"/>
            <a:ext cx="3809999" cy="2666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2" descr="PTML::eyJ0eXBlIjoicmVjdCIsImZpbGwiOiIjRDRENEQ0IiwiY29ybmVyUmFkaXVzIjoxMiwibG9ja2VkIjpmYWxzZSwic3Ryb2tlV2lkdGgiOjAsInN0cm9rZVN0eWxlIjoiIiwic2hhZG93Ijp7ImNvbG9yIjoicmdiYSgwLCAwLCAwLCAwLjEpIiwib3BhY2l0eSI6MCwiYmx1ciI6MTAsIm9mZnNldFgiOjAsIm9mZnNldFkiOjV9fQ==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000" y="1524000"/>
            <a:ext cx="38100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2"/>
          <p:cNvSpPr txBox="1"/>
          <p:nvPr/>
        </p:nvSpPr>
        <p:spPr>
          <a:xfrm>
            <a:off x="861060" y="1623060"/>
            <a:ext cx="3612000" cy="4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Razorpay Implementation Details</a:t>
            </a:r>
            <a:endParaRPr sz="1650">
              <a:solidFill>
                <a:srgbClr val="1A1A1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267" name="Google Shape;267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2500" y="214312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2"/>
          <p:cNvSpPr txBox="1"/>
          <p:nvPr/>
        </p:nvSpPr>
        <p:spPr>
          <a:xfrm>
            <a:off x="1194435" y="2051685"/>
            <a:ext cx="327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Secure Checkout Process with Order Creation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9" name="Google Shape;269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52500" y="24288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2"/>
          <p:cNvSpPr txBox="1"/>
          <p:nvPr/>
        </p:nvSpPr>
        <p:spPr>
          <a:xfrm>
            <a:off x="1194435" y="2337435"/>
            <a:ext cx="327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Backend Verification of Payment Signature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1" name="Google Shape;271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52500" y="271462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2"/>
          <p:cNvSpPr txBox="1"/>
          <p:nvPr/>
        </p:nvSpPr>
        <p:spPr>
          <a:xfrm>
            <a:off x="1194435" y="2623185"/>
            <a:ext cx="327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Automatic Course Enrollment Post-Payment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3" name="Google Shape;273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52500" y="30003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2"/>
          <p:cNvSpPr txBox="1"/>
          <p:nvPr/>
        </p:nvSpPr>
        <p:spPr>
          <a:xfrm>
            <a:off x="1194435" y="2908935"/>
            <a:ext cx="327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Transaction Records Storage in Payments Collection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5" name="Google Shape;275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2500" y="328612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2"/>
          <p:cNvSpPr txBox="1"/>
          <p:nvPr/>
        </p:nvSpPr>
        <p:spPr>
          <a:xfrm>
            <a:off x="1194435" y="3194685"/>
            <a:ext cx="327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Robust Error Handling for Failed Transactions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7" name="Google Shape;277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52500" y="35718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2"/>
          <p:cNvSpPr txBox="1"/>
          <p:nvPr/>
        </p:nvSpPr>
        <p:spPr>
          <a:xfrm>
            <a:off x="1194435" y="3480435"/>
            <a:ext cx="327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Webhook Integration for Payment Status Updates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9" name="Google Shape;279;p22" descr="PTML::eyJ0eXBlIjoicmVjdCIsImZpbGwiOiJoc2woMjEwLCA4MCUsIDQ1JSkiLCJjb3JuZXJSYWRpdXMiOjAsImxvY2tlZCI6ZmFsc2UsInNoYWRvdyI6eyJvcGFjaXR5IjowLCJibHVyIjowLCJvZmZzZXRYIjowLCJvZmZzZXRZIjowfX0="/>
          <p:cNvSpPr/>
          <p:nvPr/>
        </p:nvSpPr>
        <p:spPr>
          <a:xfrm>
            <a:off x="0" y="4667250"/>
            <a:ext cx="9144000" cy="476400"/>
          </a:xfrm>
          <a:prstGeom prst="rect">
            <a:avLst/>
          </a:prstGeom>
          <a:solidFill>
            <a:srgbClr val="1773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22"/>
          <p:cNvSpPr txBox="1"/>
          <p:nvPr/>
        </p:nvSpPr>
        <p:spPr>
          <a:xfrm>
            <a:off x="4480560" y="4718685"/>
            <a:ext cx="3993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Ecera System LLC | Internship Assignment</a:t>
            </a:r>
            <a:endParaRPr sz="105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1" name="Google Shape;281;p22"/>
          <p:cNvSpPr txBox="1"/>
          <p:nvPr/>
        </p:nvSpPr>
        <p:spPr>
          <a:xfrm>
            <a:off x="670560" y="4718685"/>
            <a:ext cx="3993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EduLearn Project Documentation</a:t>
            </a:r>
            <a:endParaRPr sz="105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3" descr="PTML::eyJ0eXBlIjoicmVjdCIsImZpbGwiOiJoc2woMjEwLCA4MCUsIDQ1JSkiLCJjb3JuZXJSYWRpdXMiOjAsImxvY2tlZCI6ZmFsc2UsInNoYWRvdyI6eyJvcGFjaXR5IjowLCJibHVyIjowLCJvZmZzZXRYIjowLCJvZmZzZXRZIjowfX0=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773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23"/>
          <p:cNvSpPr txBox="1"/>
          <p:nvPr/>
        </p:nvSpPr>
        <p:spPr>
          <a:xfrm>
            <a:off x="670560" y="99060"/>
            <a:ext cx="3993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EduLearn - Project Highlights</a:t>
            </a:r>
            <a:endParaRPr sz="150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288" name="Google Shape;288;p23"/>
          <p:cNvSpPr txBox="1"/>
          <p:nvPr/>
        </p:nvSpPr>
        <p:spPr>
          <a:xfrm>
            <a:off x="8290560" y="99060"/>
            <a:ext cx="754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Page 11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" name="Google Shape;289;p23"/>
          <p:cNvSpPr txBox="1"/>
          <p:nvPr/>
        </p:nvSpPr>
        <p:spPr>
          <a:xfrm>
            <a:off x="670560" y="861060"/>
            <a:ext cx="7803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1773CF"/>
                </a:solidFill>
                <a:latin typeface="Inter"/>
                <a:ea typeface="Inter"/>
                <a:cs typeface="Inter"/>
                <a:sym typeface="Inter"/>
              </a:rPr>
              <a:t>Project Highlights: Key Metrics</a:t>
            </a:r>
            <a:endParaRPr sz="2400" b="1">
              <a:solidFill>
                <a:srgbClr val="1773C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90" name="Google Shape;29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500" y="1524000"/>
            <a:ext cx="3809999" cy="2666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3" descr="PTML::eyJ0eXBlIjoicmVjdCIsImZpbGwiOiIjRDRENEQ0IiwiY29ybmVyUmFkaXVzIjoxMiwibG9ja2VkIjpmYWxzZSwic3Ryb2tlV2lkdGgiOjAsInN0cm9rZVN0eWxlIjoiIiwic2hhZG93Ijp7ImNvbG9yIjoicmdiYSgwLCAwLCAwLCAwLjEpIiwib3BhY2l0eSI6MCwiYmx1ciI6MTAsIm9mZnNldFgiOjAsIm9mZnNldFkiOjV9fQ==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000" y="1524000"/>
            <a:ext cx="38100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3"/>
          <p:cNvSpPr txBox="1"/>
          <p:nvPr/>
        </p:nvSpPr>
        <p:spPr>
          <a:xfrm>
            <a:off x="861060" y="1623060"/>
            <a:ext cx="3612000" cy="4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Quantifiable Achievements</a:t>
            </a:r>
            <a:endParaRPr sz="1650">
              <a:solidFill>
                <a:srgbClr val="1A1A1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293" name="Google Shape;293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2500" y="214312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3"/>
          <p:cNvSpPr txBox="1"/>
          <p:nvPr/>
        </p:nvSpPr>
        <p:spPr>
          <a:xfrm>
            <a:off x="1194435" y="2051685"/>
            <a:ext cx="327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20+ React Components Built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5" name="Google Shape;295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52500" y="24288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3"/>
          <p:cNvSpPr txBox="1"/>
          <p:nvPr/>
        </p:nvSpPr>
        <p:spPr>
          <a:xfrm>
            <a:off x="1194435" y="2337435"/>
            <a:ext cx="327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15+ RESTful API Endpoints Implemented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7" name="Google Shape;297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52500" y="271462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3"/>
          <p:cNvSpPr txBox="1"/>
          <p:nvPr/>
        </p:nvSpPr>
        <p:spPr>
          <a:xfrm>
            <a:off x="1194435" y="2623185"/>
            <a:ext cx="327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5 MongoDB Collections Designed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9" name="Google Shape;299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52500" y="30003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3"/>
          <p:cNvSpPr txBox="1"/>
          <p:nvPr/>
        </p:nvSpPr>
        <p:spPr>
          <a:xfrm>
            <a:off x="1194435" y="2908935"/>
            <a:ext cx="327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3000+ Lines of Code Written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01" name="Google Shape;301;p2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52500" y="328612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3"/>
          <p:cNvSpPr txBox="1"/>
          <p:nvPr/>
        </p:nvSpPr>
        <p:spPr>
          <a:xfrm>
            <a:off x="1194435" y="3194685"/>
            <a:ext cx="327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Role-based Access for 2 User Types (Admin/Student)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03" name="Google Shape;303;p2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52500" y="35718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3"/>
          <p:cNvSpPr txBox="1"/>
          <p:nvPr/>
        </p:nvSpPr>
        <p:spPr>
          <a:xfrm>
            <a:off x="1194435" y="3480435"/>
            <a:ext cx="327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Fully Responsive Design Across Devices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" name="Google Shape;305;p23" descr="PTML::eyJ0eXBlIjoicmVjdCIsImZpbGwiOiJoc2woMjEwLCA4MCUsIDQ1JSkiLCJjb3JuZXJSYWRpdXMiOjAsImxvY2tlZCI6ZmFsc2UsInNoYWRvdyI6eyJvcGFjaXR5IjowLCJibHVyIjowLCJvZmZzZXRYIjowLCJvZmZzZXRZIjowfX0="/>
          <p:cNvSpPr/>
          <p:nvPr/>
        </p:nvSpPr>
        <p:spPr>
          <a:xfrm>
            <a:off x="0" y="4667250"/>
            <a:ext cx="9144000" cy="476400"/>
          </a:xfrm>
          <a:prstGeom prst="rect">
            <a:avLst/>
          </a:prstGeom>
          <a:solidFill>
            <a:srgbClr val="1773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3"/>
          <p:cNvSpPr txBox="1"/>
          <p:nvPr/>
        </p:nvSpPr>
        <p:spPr>
          <a:xfrm>
            <a:off x="4480560" y="4718685"/>
            <a:ext cx="3993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Ecera System LLC | Internship Assignment</a:t>
            </a:r>
            <a:endParaRPr sz="105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7" name="Google Shape;307;p23"/>
          <p:cNvSpPr txBox="1"/>
          <p:nvPr/>
        </p:nvSpPr>
        <p:spPr>
          <a:xfrm>
            <a:off x="670560" y="4718685"/>
            <a:ext cx="3993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EduLearn Project Documentation</a:t>
            </a:r>
            <a:endParaRPr sz="105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4" descr="PTML::eyJ0eXBlIjoicmVjdCIsImZpbGwiOiJoc2woMjEwLCA4MCUsIDQ1JSkiLCJjb3JuZXJSYWRpdXMiOjAsImxvY2tlZCI6ZmFsc2UsInNoYWRvdyI6eyJvcGFjaXR5IjowLCJibHVyIjowLCJvZmZzZXRYIjowLCJvZmZzZXRZIjowfX0=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773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24"/>
          <p:cNvSpPr txBox="1"/>
          <p:nvPr/>
        </p:nvSpPr>
        <p:spPr>
          <a:xfrm>
            <a:off x="670560" y="99060"/>
            <a:ext cx="3993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EduLearn - Development Process</a:t>
            </a:r>
            <a:endParaRPr sz="150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314" name="Google Shape;314;p24"/>
          <p:cNvSpPr txBox="1"/>
          <p:nvPr/>
        </p:nvSpPr>
        <p:spPr>
          <a:xfrm>
            <a:off x="8290560" y="99060"/>
            <a:ext cx="754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Page 12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" name="Google Shape;315;p24"/>
          <p:cNvSpPr txBox="1"/>
          <p:nvPr/>
        </p:nvSpPr>
        <p:spPr>
          <a:xfrm>
            <a:off x="670560" y="861060"/>
            <a:ext cx="7803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1773CF"/>
                </a:solidFill>
                <a:latin typeface="Inter"/>
                <a:ea typeface="Inter"/>
                <a:cs typeface="Inter"/>
                <a:sym typeface="Inter"/>
              </a:rPr>
              <a:t>Development Process &amp; Methodology</a:t>
            </a:r>
            <a:endParaRPr sz="2400" b="1">
              <a:solidFill>
                <a:srgbClr val="1773C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16" name="Google Shape;31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500" y="1524000"/>
            <a:ext cx="3809999" cy="2666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4" descr="PTML::eyJ0eXBlIjoicmVjdCIsImZpbGwiOiIjRDRENEQ0IiwiY29ybmVyUmFkaXVzIjoxMiwibG9ja2VkIjpmYWxzZSwic3Ryb2tlV2lkdGgiOjAsInN0cm9rZVN0eWxlIjoiIiwic2hhZG93Ijp7ImNvbG9yIjoicmdiYSgwLCAwLCAwLCAwLjEpIiwib3BhY2l0eSI6MCwiYmx1ciI6MTAsIm9mZnNldFgiOjAsIm9mZnNldFkiOjV9fQ==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000" y="1524000"/>
            <a:ext cx="38100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4"/>
          <p:cNvSpPr txBox="1"/>
          <p:nvPr/>
        </p:nvSpPr>
        <p:spPr>
          <a:xfrm>
            <a:off x="861060" y="1623060"/>
            <a:ext cx="3612000" cy="4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Key Development Phases</a:t>
            </a:r>
            <a:endParaRPr sz="1650">
              <a:solidFill>
                <a:srgbClr val="1A1A1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319" name="Google Shape;319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2500" y="214312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4"/>
          <p:cNvSpPr txBox="1"/>
          <p:nvPr/>
        </p:nvSpPr>
        <p:spPr>
          <a:xfrm>
            <a:off x="1194435" y="2051685"/>
            <a:ext cx="327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Database Design and ER Diagram Creation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1" name="Google Shape;321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52500" y="24288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4"/>
          <p:cNvSpPr txBox="1"/>
          <p:nvPr/>
        </p:nvSpPr>
        <p:spPr>
          <a:xfrm>
            <a:off x="1194435" y="2337435"/>
            <a:ext cx="327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Backend API Development with Express Routes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3" name="Google Shape;323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52500" y="271462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4"/>
          <p:cNvSpPr txBox="1"/>
          <p:nvPr/>
        </p:nvSpPr>
        <p:spPr>
          <a:xfrm>
            <a:off x="1194435" y="2623185"/>
            <a:ext cx="327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Frontend UI/UX Development with React Components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5" name="Google Shape;325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52500" y="30003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4"/>
          <p:cNvSpPr txBox="1"/>
          <p:nvPr/>
        </p:nvSpPr>
        <p:spPr>
          <a:xfrm>
            <a:off x="1194435" y="2908935"/>
            <a:ext cx="327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Authentication System Implementation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7" name="Google Shape;327;p2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52500" y="328612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4"/>
          <p:cNvSpPr txBox="1"/>
          <p:nvPr/>
        </p:nvSpPr>
        <p:spPr>
          <a:xfrm>
            <a:off x="1194435" y="3194685"/>
            <a:ext cx="327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File Upload System with Multer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9" name="Google Shape;329;p2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52500" y="35718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4"/>
          <p:cNvSpPr txBox="1"/>
          <p:nvPr/>
        </p:nvSpPr>
        <p:spPr>
          <a:xfrm>
            <a:off x="1194435" y="3480435"/>
            <a:ext cx="327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Payment Gateway Integration with Razorpay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1" name="Google Shape;331;p2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52500" y="385762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4"/>
          <p:cNvSpPr txBox="1"/>
          <p:nvPr/>
        </p:nvSpPr>
        <p:spPr>
          <a:xfrm>
            <a:off x="1194435" y="3766185"/>
            <a:ext cx="327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Comprehensive Testing and Debugging Phases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p24" descr="PTML::eyJ0eXBlIjoicmVjdCIsImZpbGwiOiJoc2woMjEwLCA4MCUsIDQ1JSkiLCJjb3JuZXJSYWRpdXMiOjAsImxvY2tlZCI6ZmFsc2UsInNoYWRvdyI6eyJvcGFjaXR5IjowLCJibHVyIjowLCJvZmZzZXRYIjowLCJvZmZzZXRZIjowfX0="/>
          <p:cNvSpPr/>
          <p:nvPr/>
        </p:nvSpPr>
        <p:spPr>
          <a:xfrm>
            <a:off x="0" y="4667250"/>
            <a:ext cx="9144000" cy="476400"/>
          </a:xfrm>
          <a:prstGeom prst="rect">
            <a:avLst/>
          </a:prstGeom>
          <a:solidFill>
            <a:srgbClr val="1773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24"/>
          <p:cNvSpPr txBox="1"/>
          <p:nvPr/>
        </p:nvSpPr>
        <p:spPr>
          <a:xfrm>
            <a:off x="4480560" y="4718685"/>
            <a:ext cx="3993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Ecera System LLC | Internship Assignment</a:t>
            </a:r>
            <a:endParaRPr sz="105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" name="Google Shape;335;p24"/>
          <p:cNvSpPr txBox="1"/>
          <p:nvPr/>
        </p:nvSpPr>
        <p:spPr>
          <a:xfrm>
            <a:off x="670560" y="4718685"/>
            <a:ext cx="3993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EduLearn Project Documentation</a:t>
            </a:r>
            <a:endParaRPr sz="105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5" descr="PTML::eyJ0eXBlIjoicmVjdCIsImZpbGwiOiJoc2woMjEwLCA4MCUsIDQ1JSkiLCJjb3JuZXJSYWRpdXMiOjAsImxvY2tlZCI6ZmFsc2UsInNoYWRvdyI6eyJvcGFjaXR5IjowLCJibHVyIjowLCJvZmZzZXRYIjowLCJvZmZzZXRZIjowfX0=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773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25"/>
          <p:cNvSpPr txBox="1"/>
          <p:nvPr/>
        </p:nvSpPr>
        <p:spPr>
          <a:xfrm>
            <a:off x="670560" y="99060"/>
            <a:ext cx="3993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EduLearn - Challenges Overcome</a:t>
            </a:r>
            <a:endParaRPr sz="150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342" name="Google Shape;342;p25"/>
          <p:cNvSpPr txBox="1"/>
          <p:nvPr/>
        </p:nvSpPr>
        <p:spPr>
          <a:xfrm>
            <a:off x="8290560" y="99060"/>
            <a:ext cx="754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Page 13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3" name="Google Shape;343;p25"/>
          <p:cNvSpPr txBox="1"/>
          <p:nvPr/>
        </p:nvSpPr>
        <p:spPr>
          <a:xfrm>
            <a:off x="670560" y="861060"/>
            <a:ext cx="7803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1773CF"/>
                </a:solidFill>
                <a:latin typeface="Inter"/>
                <a:ea typeface="Inter"/>
                <a:cs typeface="Inter"/>
                <a:sym typeface="Inter"/>
              </a:rPr>
              <a:t>Challenges Overcome &amp; Solutions</a:t>
            </a:r>
            <a:endParaRPr sz="2400" b="1">
              <a:solidFill>
                <a:srgbClr val="1773C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44" name="Google Shape;34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500" y="1524000"/>
            <a:ext cx="3809999" cy="2666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5" descr="PTML::eyJ0eXBlIjoicmVjdCIsImZpbGwiOiIjRDRENEQ0IiwiY29ybmVyUmFkaXVzIjoxMiwibG9ja2VkIjpmYWxzZSwic3Ryb2tlV2lkdGgiOjAsInN0cm9rZVN0eWxlIjoiIiwic2hhZG93Ijp7ImNvbG9yIjoicmdiYSgwLCAwLCAwLCAwLjEpIiwib3BhY2l0eSI6MCwiYmx1ciI6MTAsIm9mZnNldFgiOjAsIm9mZnNldFkiOjV9fQ==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000" y="1524000"/>
            <a:ext cx="38100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5"/>
          <p:cNvSpPr txBox="1"/>
          <p:nvPr/>
        </p:nvSpPr>
        <p:spPr>
          <a:xfrm>
            <a:off x="861060" y="1623060"/>
            <a:ext cx="3612000" cy="4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Technical Hurdles Addressed</a:t>
            </a:r>
            <a:endParaRPr sz="1650">
              <a:solidFill>
                <a:srgbClr val="1A1A1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347" name="Google Shape;347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2500" y="214312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5"/>
          <p:cNvSpPr txBox="1"/>
          <p:nvPr/>
        </p:nvSpPr>
        <p:spPr>
          <a:xfrm>
            <a:off x="1194435" y="2051685"/>
            <a:ext cx="327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File Upload Optimization with Multer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9" name="Google Shape;349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52500" y="24288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5"/>
          <p:cNvSpPr txBox="1"/>
          <p:nvPr/>
        </p:nvSpPr>
        <p:spPr>
          <a:xfrm>
            <a:off x="1194435" y="2337435"/>
            <a:ext cx="327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JWT Token Lifecycle Management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51" name="Google Shape;351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52500" y="271462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5"/>
          <p:cNvSpPr txBox="1"/>
          <p:nvPr/>
        </p:nvSpPr>
        <p:spPr>
          <a:xfrm>
            <a:off x="1194435" y="2623185"/>
            <a:ext cx="327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Email OTP System Reliability &amp; Deliverability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53" name="Google Shape;353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52500" y="30003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5"/>
          <p:cNvSpPr txBox="1"/>
          <p:nvPr/>
        </p:nvSpPr>
        <p:spPr>
          <a:xfrm>
            <a:off x="1194435" y="2908935"/>
            <a:ext cx="327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Razorpay Integration Testing in Sandbox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55" name="Google Shape;355;p2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52500" y="328612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25"/>
          <p:cNvSpPr txBox="1"/>
          <p:nvPr/>
        </p:nvSpPr>
        <p:spPr>
          <a:xfrm>
            <a:off x="1194435" y="3194685"/>
            <a:ext cx="327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Role-based Route Protection Middleware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57" name="Google Shape;357;p2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52500" y="35718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5"/>
          <p:cNvSpPr txBox="1"/>
          <p:nvPr/>
        </p:nvSpPr>
        <p:spPr>
          <a:xfrm>
            <a:off x="1194435" y="3480435"/>
            <a:ext cx="327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Responsive Design Challenges Across Screens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9" name="Google Shape;359;p25" descr="PTML::eyJ0eXBlIjoicmVjdCIsImZpbGwiOiJoc2woMjEwLCA4MCUsIDQ1JSkiLCJjb3JuZXJSYWRpdXMiOjAsImxvY2tlZCI6ZmFsc2UsInNoYWRvdyI6eyJvcGFjaXR5IjowLCJibHVyIjowLCJvZmZzZXRYIjowLCJvZmZzZXRZIjowfX0="/>
          <p:cNvSpPr/>
          <p:nvPr/>
        </p:nvSpPr>
        <p:spPr>
          <a:xfrm>
            <a:off x="0" y="4667250"/>
            <a:ext cx="9144000" cy="476400"/>
          </a:xfrm>
          <a:prstGeom prst="rect">
            <a:avLst/>
          </a:prstGeom>
          <a:solidFill>
            <a:srgbClr val="1773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25"/>
          <p:cNvSpPr txBox="1"/>
          <p:nvPr/>
        </p:nvSpPr>
        <p:spPr>
          <a:xfrm>
            <a:off x="4480560" y="4718685"/>
            <a:ext cx="3993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Ecera System LLC | Internship Assignment</a:t>
            </a:r>
            <a:endParaRPr sz="105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" name="Google Shape;361;p25"/>
          <p:cNvSpPr txBox="1"/>
          <p:nvPr/>
        </p:nvSpPr>
        <p:spPr>
          <a:xfrm>
            <a:off x="670560" y="4718685"/>
            <a:ext cx="3993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EduLearn Project Documentation</a:t>
            </a:r>
            <a:endParaRPr sz="105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6" descr="PTML::eyJ0eXBlIjoicmVjdCIsImZpbGwiOiJoc2woMjEwLCA4MCUsIDQ1JSkiLCJjb3JuZXJSYWRpdXMiOjAsImxvY2tlZCI6ZmFsc2UsInNoYWRvdyI6eyJvcGFjaXR5IjowLCJibHVyIjowLCJvZmZzZXRYIjowLCJvZmZzZXRZIjowfX0=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773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26"/>
          <p:cNvSpPr txBox="1"/>
          <p:nvPr/>
        </p:nvSpPr>
        <p:spPr>
          <a:xfrm>
            <a:off x="670560" y="99060"/>
            <a:ext cx="3993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EduLearn - Future Enhancements</a:t>
            </a:r>
            <a:endParaRPr sz="150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368" name="Google Shape;368;p26"/>
          <p:cNvSpPr txBox="1"/>
          <p:nvPr/>
        </p:nvSpPr>
        <p:spPr>
          <a:xfrm>
            <a:off x="8290560" y="99060"/>
            <a:ext cx="754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Page 14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p26"/>
          <p:cNvSpPr txBox="1"/>
          <p:nvPr/>
        </p:nvSpPr>
        <p:spPr>
          <a:xfrm>
            <a:off x="670560" y="861060"/>
            <a:ext cx="7803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1773CF"/>
                </a:solidFill>
                <a:latin typeface="Inter"/>
                <a:ea typeface="Inter"/>
                <a:cs typeface="Inter"/>
                <a:sym typeface="Inter"/>
              </a:rPr>
              <a:t>Future Enhancements &amp; Roadmap</a:t>
            </a:r>
            <a:endParaRPr sz="2400" b="1">
              <a:solidFill>
                <a:srgbClr val="1773C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70" name="Google Shape;37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500" y="1524000"/>
            <a:ext cx="3809999" cy="2666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26" descr="PTML::eyJ0eXBlIjoicmVjdCIsImZpbGwiOiIjRDRENEQ0IiwiY29ybmVyUmFkaXVzIjoxMiwibG9ja2VkIjpmYWxzZSwic3Ryb2tlV2lkdGgiOjAsInN0cm9rZVN0eWxlIjoiIiwic2hhZG93Ijp7ImNvbG9yIjoicmdiYSgwLCAwLCAwLCAwLjEpIiwib3BhY2l0eSI6MCwiYmx1ciI6MTAsIm9mZnNldFgiOjAsIm9mZnNldFkiOjV9fQ==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000" y="1524000"/>
            <a:ext cx="38100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26"/>
          <p:cNvSpPr txBox="1"/>
          <p:nvPr/>
        </p:nvSpPr>
        <p:spPr>
          <a:xfrm>
            <a:off x="861060" y="1623060"/>
            <a:ext cx="3612000" cy="4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Planned Next Steps</a:t>
            </a:r>
            <a:endParaRPr sz="1650">
              <a:solidFill>
                <a:srgbClr val="1A1A1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373" name="Google Shape;373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2500" y="214312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26"/>
          <p:cNvSpPr txBox="1"/>
          <p:nvPr/>
        </p:nvSpPr>
        <p:spPr>
          <a:xfrm>
            <a:off x="1194435" y="2051685"/>
            <a:ext cx="327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Real-time Chat Functionality (Socket.io)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75" name="Google Shape;375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52500" y="24288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6"/>
          <p:cNvSpPr txBox="1"/>
          <p:nvPr/>
        </p:nvSpPr>
        <p:spPr>
          <a:xfrm>
            <a:off x="1194435" y="2337435"/>
            <a:ext cx="327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Course Review and Rating System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77" name="Google Shape;377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52500" y="271462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26"/>
          <p:cNvSpPr txBox="1"/>
          <p:nvPr/>
        </p:nvSpPr>
        <p:spPr>
          <a:xfrm>
            <a:off x="1194435" y="2623185"/>
            <a:ext cx="327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Automated Certificate Generation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79" name="Google Shape;379;p2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52500" y="30003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26"/>
          <p:cNvSpPr txBox="1"/>
          <p:nvPr/>
        </p:nvSpPr>
        <p:spPr>
          <a:xfrm>
            <a:off x="1194435" y="2908935"/>
            <a:ext cx="327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Advanced Analytics Dashboard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81" name="Google Shape;381;p2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52500" y="328612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26"/>
          <p:cNvSpPr txBox="1"/>
          <p:nvPr/>
        </p:nvSpPr>
        <p:spPr>
          <a:xfrm>
            <a:off x="1194435" y="3194685"/>
            <a:ext cx="327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Mobile Application Development (React Native)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83" name="Google Shape;383;p2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52500" y="35718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6"/>
          <p:cNvSpPr txBox="1"/>
          <p:nvPr/>
        </p:nvSpPr>
        <p:spPr>
          <a:xfrm>
            <a:off x="1194435" y="3480435"/>
            <a:ext cx="327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Live Video Streaming Integration</a:t>
            </a:r>
            <a:endParaRPr sz="105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5" name="Google Shape;385;p26" descr="PTML::eyJ0eXBlIjoicmVjdCIsImZpbGwiOiJoc2woMjEwLCA4MCUsIDQ1JSkiLCJjb3JuZXJSYWRpdXMiOjAsImxvY2tlZCI6ZmFsc2UsInNoYWRvdyI6eyJvcGFjaXR5IjowLCJibHVyIjowLCJvZmZzZXRYIjowLCJvZmZzZXRZIjowfX0="/>
          <p:cNvSpPr/>
          <p:nvPr/>
        </p:nvSpPr>
        <p:spPr>
          <a:xfrm>
            <a:off x="0" y="4667250"/>
            <a:ext cx="9144000" cy="476400"/>
          </a:xfrm>
          <a:prstGeom prst="rect">
            <a:avLst/>
          </a:prstGeom>
          <a:solidFill>
            <a:srgbClr val="1773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26"/>
          <p:cNvSpPr txBox="1"/>
          <p:nvPr/>
        </p:nvSpPr>
        <p:spPr>
          <a:xfrm>
            <a:off x="4480560" y="4718685"/>
            <a:ext cx="3993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Ecera System LLC | Internship Assignment</a:t>
            </a:r>
            <a:endParaRPr sz="105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7" name="Google Shape;387;p26"/>
          <p:cNvSpPr txBox="1"/>
          <p:nvPr/>
        </p:nvSpPr>
        <p:spPr>
          <a:xfrm>
            <a:off x="670560" y="4718685"/>
            <a:ext cx="3993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EduLearn Project Documentation</a:t>
            </a:r>
            <a:endParaRPr sz="105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p27" descr="PTML::eyJ0eXBlIjoicmVjdCIsImZpbGwiOiIiLCJjb3JuZXJSYWRpdXMiOjAsImxvY2tlZCI6ZmFsc2UsInN0cm9rZVdpZHRoIjowLCJzdHJva2VTdHlsZSI6IiIsInNoYWRvdyI6eyJvcGFjaXR5IjowLCJibHVyIjowLCJvZmZzZXRYIjowLCJvZmZzZXRZIjowfX0=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3" y="0"/>
            <a:ext cx="9142756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27"/>
          <p:cNvSpPr txBox="1"/>
          <p:nvPr/>
        </p:nvSpPr>
        <p:spPr>
          <a:xfrm>
            <a:off x="670560" y="1337310"/>
            <a:ext cx="7803000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Thank You!</a:t>
            </a:r>
            <a:endParaRPr sz="45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5" name="Google Shape;395;p27"/>
          <p:cNvSpPr txBox="1"/>
          <p:nvPr/>
        </p:nvSpPr>
        <p:spPr>
          <a:xfrm>
            <a:off x="670560" y="2289810"/>
            <a:ext cx="7803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Contact Information</a:t>
            </a:r>
            <a:endParaRPr sz="180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396" name="Google Shape;396;p27"/>
          <p:cNvSpPr txBox="1"/>
          <p:nvPr/>
        </p:nvSpPr>
        <p:spPr>
          <a:xfrm>
            <a:off x="670560" y="2670810"/>
            <a:ext cx="78030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Name: Suraj Anand</a:t>
            </a:r>
            <a:endParaRPr sz="135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7" name="Google Shape;397;p27"/>
          <p:cNvSpPr txBox="1"/>
          <p:nvPr/>
        </p:nvSpPr>
        <p:spPr>
          <a:xfrm>
            <a:off x="670560" y="2908935"/>
            <a:ext cx="78030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Email: surazz3275@gmail.com</a:t>
            </a:r>
            <a:endParaRPr sz="135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8" name="Google Shape;398;p27"/>
          <p:cNvSpPr txBox="1"/>
          <p:nvPr/>
        </p:nvSpPr>
        <p:spPr>
          <a:xfrm>
            <a:off x="670500" y="3136188"/>
            <a:ext cx="78030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" sz="135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GitHub: </a:t>
            </a:r>
            <a:r>
              <a:rPr lang="en-IN" sz="135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https://github.com/SURAJDECODE/edulearn-lms</a:t>
            </a:r>
            <a:endParaRPr sz="135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" name="Google Shape;399;p27"/>
          <p:cNvSpPr txBox="1"/>
          <p:nvPr/>
        </p:nvSpPr>
        <p:spPr>
          <a:xfrm>
            <a:off x="670560" y="3385185"/>
            <a:ext cx="78030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" sz="135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LinkedIn: </a:t>
            </a:r>
            <a:r>
              <a:rPr lang="en-IN" sz="135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  <a:hlinkClick r:id="rId6"/>
              </a:rPr>
              <a:t>https://www.linkedin.com/in/suraj117/</a:t>
            </a:r>
            <a:endParaRPr sz="135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27"/>
          <p:cNvSpPr txBox="1"/>
          <p:nvPr/>
        </p:nvSpPr>
        <p:spPr>
          <a:xfrm>
            <a:off x="670560" y="3909060"/>
            <a:ext cx="7803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Looking forward to joining Ecera System LLC and contributing to innovative educational technology projects.</a:t>
            </a:r>
            <a:endParaRPr sz="150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938</Words>
  <Application>Microsoft Office PowerPoint</Application>
  <PresentationFormat>On-screen Show (16:9)</PresentationFormat>
  <Paragraphs>168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Inter SemiBold</vt:lpstr>
      <vt:lpstr>Roboto</vt:lpstr>
      <vt:lpstr>Arial</vt:lpstr>
      <vt:lpstr>Inter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Alakh Anand</dc:creator>
  <cp:lastModifiedBy>Alakh Anand</cp:lastModifiedBy>
  <cp:revision>2</cp:revision>
  <dcterms:modified xsi:type="dcterms:W3CDTF">2025-12-14T09:05:15Z</dcterms:modified>
</cp:coreProperties>
</file>